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6" d="100"/>
          <a:sy n="116" d="100"/>
        </p:scale>
        <p:origin x="49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7502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I'll be presenting the St. Louis Altar Servers website, a full-stack web development project I built using modern web technologies. This project showcases responsive design, interactive features, and clean code architecture.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a complete website solution for managing and showcasing the Altar Server Ministry. It includes comprehensive information about the ministry, testimonials from current servers, and a dynamic roster system. The website had to be mobile-friendly since many users access it on their phones before services.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a modern tech stack that's industry-standard. Bootstrap provided the responsive grid system, which was crucial for ensuring the site works perfectly on all devices. I chose semantic HTML5 for better SEO and accessibility. The custom CSS uses CSS variables for easy theme management and consistency throughout the site.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navigation is sticky, so users can always navigate no matter where they are on the page. The hero section immediately communicates what the ministry is about. I used cards and sections to break up content and make it visually digestible. Every interactive element has smooth transitions for a polished feel.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roster page is fully functional with a table system showing daily schedules. The modals are styled to match the dark theme and provide a professional UI. Though the edit functionality is frontend-only for now, it demonstrates understanding of Bootstrap modals and form handling. The testimonials section adds a human touch and credibility to the ministry.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color scheme was carefully chosen to match the Catholic church aesthetic while remaining modern. The dark navy provides excellent contrast for readability. Lora gives a traditional, trustworthy feel while Poppins keeps body text modern and clean. Every element has intentional spacing - no random gaps or cramped sections.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fixed a critical mobile overflow issue that was initially giving problems. The responsive design was tested on various screen sizes. The navigation collapses into a hamburger menu on mobile. Font sizes scale appropriately - titles get smaller on mobile while remaining readable. Images and components stack properly on smaller screens.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HTML is well-organized with clear IDs for sections (home, about, activities, etc.) making navigation smooth. The CSS uses variables at the root level so colors and sizes can be changed globally. I avoided inline styles and used CSS classes instead. Each page shares the same style.css file, reducing redundancy. The code is also documented with comments for clarity.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interactive elements provide good user feedback. When hovering over cards, they lift slightly with a subtle shadow. The modals are dismissible and have clear cancel/save buttons. The roster tables highlight rows on hover. All form fields have proper labels for accessibility. The smooth scrolling makes navigation feel premium and intentional.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 users make up a large portion of traffic, especially for a church website. I ensured no horizontal scrolling by fixing the overflow issue. Tables become scrollable on mobile instead of breaking layout. Font sizes remain readable - nothing smaller than 14px. Form inputs are large enough to tap easily on touch devices. The overall experience is as smooth on a phone as on desktop.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roster currently has sample data but is structured to easily connect to a backend database. The status system tracks who's confirmed and who's pending, which helps with logistics. The announcements section is clearly separate and can be dynamically loaded. The table structure makes it easy to add rows programmatically from a database. All data is semantic and properly labeled.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follows modern web standards. Using CDNs ensures fast loading times and reduces server burden. All external resources are from reliable sources. The CSS uses cubic-bezier timing functions for smooth animations that feel responsive. The semantic HTML structure helps with SEO and accessibility. The site would score well on PageSpeed Insights.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encountered the overflow issue early in development and solved it quickly. This taught me about viewport management. I learned the power of CSS variables and how they make theming much easier - perfect for future light/dark mode implementation. The responsive table solution demonstrates understanding of mobile UX trade-offs - sometimes controlled scrolling is better than breaking layout.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is solid for backend integration. The forms are ready for backend processing. Adding user authentication would allow specific admins to edit the roster. The light mode toggle would enhance accessibility for different lighting conditions. Email notifications would keep servers informed of schedule changes. A mobile app would increase engagement, especially reaching servers on-the-go.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demo, start by showing the desktop version. Explain the design decisions as you scroll. Navigate to the roster page and click on the edit buttons to show the modal functionality. Then resize the browser window to show how the site adapts to mobile. This demonstrates responsive design in action. Mention the fixed overflow issue. Compliment your code quality and cleanliness.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taught me valuable lessons about web development. Starting mobile-first saved a lot of debugging time. Using CSS variables made it easy to maintain consistency and prepare for future themes. Bootstrap's grid system is powerful but understanding the underlying CSS is crucial. Every decision - from color choice to spacing - affects user experience. The code should work well, but also look polished.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by thanking them for their time. Be ready to answer questions about technical decisions, design choices, or how you'd scale the project further. You've built something solid - be confident!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E"/>
        </a:solidFill>
        <a:effectLst/>
      </p:bgPr>
    </p:bg>
    <p:spTree>
      <p:nvGrpSpPr>
        <p:cNvPr id="1" name=""/>
        <p:cNvGrpSpPr/>
        <p:nvPr/>
      </p:nvGrpSpPr>
      <p:grpSpPr>
        <a:xfrm>
          <a:off x="0" y="0"/>
          <a:ext cx="0" cy="0"/>
          <a:chOff x="0" y="0"/>
          <a:chExt cx="0" cy="0"/>
        </a:xfrm>
      </p:grpSpPr>
      <p:sp>
        <p:nvSpPr>
          <p:cNvPr id="2" name="Text 0"/>
          <p:cNvSpPr/>
          <p:nvPr/>
        </p:nvSpPr>
        <p:spPr>
          <a:xfrm>
            <a:off x="457200" y="2011680"/>
            <a:ext cx="8229600" cy="914400"/>
          </a:xfrm>
          <a:prstGeom prst="rect">
            <a:avLst/>
          </a:prstGeom>
          <a:noFill/>
          <a:ln/>
        </p:spPr>
        <p:txBody>
          <a:bodyPr wrap="square" rtlCol="0" anchor="ctr"/>
          <a:lstStyle/>
          <a:p>
            <a:pPr marL="0" indent="0" algn="ctr">
              <a:buNone/>
            </a:pPr>
            <a:r>
              <a:rPr lang="en-US" sz="5400" b="1" dirty="0">
                <a:solidFill>
                  <a:srgbClr val="F0F0F0"/>
                </a:solidFill>
                <a:latin typeface="Lora" pitchFamily="34" charset="0"/>
                <a:ea typeface="Lora" pitchFamily="34" charset="-122"/>
                <a:cs typeface="Lora" pitchFamily="34" charset="-120"/>
              </a:rPr>
              <a:t>St. Louis Altar Servers</a:t>
            </a:r>
            <a:endParaRPr lang="en-US" sz="5400" dirty="0"/>
          </a:p>
        </p:txBody>
      </p:sp>
      <p:sp>
        <p:nvSpPr>
          <p:cNvPr id="3" name="Text 1"/>
          <p:cNvSpPr/>
          <p:nvPr/>
        </p:nvSpPr>
        <p:spPr>
          <a:xfrm>
            <a:off x="457200" y="3200400"/>
            <a:ext cx="8229600" cy="731520"/>
          </a:xfrm>
          <a:prstGeom prst="rect">
            <a:avLst/>
          </a:prstGeom>
          <a:noFill/>
          <a:ln/>
        </p:spPr>
        <p:txBody>
          <a:bodyPr wrap="square" rtlCol="0" anchor="ctr"/>
          <a:lstStyle/>
          <a:p>
            <a:pPr marL="0" indent="0" algn="ctr">
              <a:buNone/>
            </a:pPr>
            <a:r>
              <a:rPr lang="en-US" sz="2800" dirty="0" smtClean="0">
                <a:solidFill>
                  <a:srgbClr val="C41E3A"/>
                </a:solidFill>
                <a:latin typeface="Poppins" pitchFamily="34" charset="0"/>
                <a:ea typeface="Poppins" pitchFamily="34" charset="-122"/>
                <a:cs typeface="Poppins" pitchFamily="34" charset="-120"/>
              </a:rPr>
              <a:t> </a:t>
            </a:r>
            <a:r>
              <a:rPr lang="en-US" sz="2800" dirty="0">
                <a:solidFill>
                  <a:srgbClr val="C41E3A"/>
                </a:solidFill>
                <a:latin typeface="Poppins" pitchFamily="34" charset="0"/>
                <a:ea typeface="Poppins" pitchFamily="34" charset="-122"/>
                <a:cs typeface="Poppins" pitchFamily="34" charset="-120"/>
              </a:rPr>
              <a:t>Web Development Project</a:t>
            </a:r>
            <a:endParaRPr lang="en-US" sz="2800" dirty="0"/>
          </a:p>
        </p:txBody>
      </p:sp>
      <p:sp>
        <p:nvSpPr>
          <p:cNvPr id="4" name="Shape 2"/>
          <p:cNvSpPr/>
          <p:nvPr/>
        </p:nvSpPr>
        <p:spPr>
          <a:xfrm>
            <a:off x="3200400" y="3017520"/>
            <a:ext cx="2743200" cy="45720"/>
          </a:xfrm>
          <a:prstGeom prst="rect">
            <a:avLst/>
          </a:prstGeom>
          <a:solidFill>
            <a:srgbClr val="C41E3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Project Overview</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A responsive website for St. Louis Catholic Church's Altar Server Ministry</a:t>
            </a:r>
            <a:endParaRPr lang="en-US" sz="1600" dirty="0"/>
          </a:p>
        </p:txBody>
      </p:sp>
      <p:sp>
        <p:nvSpPr>
          <p:cNvPr id="5" name="Text 3"/>
          <p:cNvSpPr/>
          <p:nvPr/>
        </p:nvSpPr>
        <p:spPr>
          <a:xfrm>
            <a:off x="1097280" y="18288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Two main pages: Homepage (index.html) and Serving Roster (roaster.html)</a:t>
            </a:r>
            <a:endParaRPr lang="en-US" sz="1600" dirty="0"/>
          </a:p>
        </p:txBody>
      </p:sp>
      <p:sp>
        <p:nvSpPr>
          <p:cNvPr id="6" name="Text 4"/>
          <p:cNvSpPr/>
          <p:nvPr/>
        </p:nvSpPr>
        <p:spPr>
          <a:xfrm>
            <a:off x="1097280" y="237744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Launched in 2026 to serve 120+ active altar servers</a:t>
            </a:r>
            <a:endParaRPr lang="en-US" sz="1600" dirty="0"/>
          </a:p>
        </p:txBody>
      </p:sp>
      <p:sp>
        <p:nvSpPr>
          <p:cNvPr id="7" name="Text 5"/>
          <p:cNvSpPr/>
          <p:nvPr/>
        </p:nvSpPr>
        <p:spPr>
          <a:xfrm>
            <a:off x="1097280" y="29260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Provides information, announcements, and weekly serving schedules</a:t>
            </a:r>
            <a:endParaRPr lang="en-US" sz="1600" dirty="0"/>
          </a:p>
        </p:txBody>
      </p:sp>
      <p:sp>
        <p:nvSpPr>
          <p:cNvPr id="8" name="Text 6"/>
          <p:cNvSpPr/>
          <p:nvPr/>
        </p:nvSpPr>
        <p:spPr>
          <a:xfrm>
            <a:off x="1097280" y="347472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Designed for accessibility and ease of navigation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Technologies &amp; Stack</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Frontend: HTML5, CSS3, Bootstrap 5.3.0</a:t>
            </a:r>
            <a:endParaRPr lang="en-US" sz="1600" dirty="0"/>
          </a:p>
        </p:txBody>
      </p:sp>
      <p:sp>
        <p:nvSpPr>
          <p:cNvPr id="6" name="Text 4"/>
          <p:cNvSpPr/>
          <p:nvPr/>
        </p:nvSpPr>
        <p:spPr>
          <a:xfrm>
            <a:off x="1097280" y="1737360"/>
            <a:ext cx="7589520" cy="457200"/>
          </a:xfrm>
          <a:prstGeom prst="rect">
            <a:avLst/>
          </a:prstGeom>
          <a:noFill/>
          <a:ln/>
        </p:spPr>
        <p:txBody>
          <a:bodyPr wrap="square" rtlCol="0" anchor="ctr"/>
          <a:lstStyle/>
          <a:p>
            <a:pPr marL="285750" indent="-285750">
              <a:buSzPct val="100000"/>
              <a:buFont typeface="Arial" panose="020B0604020202020204" pitchFamily="34" charset="0"/>
              <a:buChar char="•"/>
            </a:pPr>
            <a:r>
              <a:rPr lang="en-US" sz="1600" dirty="0">
                <a:solidFill>
                  <a:srgbClr val="F0F0F0"/>
                </a:solidFill>
                <a:latin typeface="Poppins" pitchFamily="34" charset="0"/>
                <a:ea typeface="Poppins" pitchFamily="34" charset="-122"/>
                <a:cs typeface="Poppins" pitchFamily="34" charset="-120"/>
              </a:rPr>
              <a:t> </a:t>
            </a:r>
            <a:r>
              <a:rPr lang="en-US" sz="1600" dirty="0" smtClean="0">
                <a:solidFill>
                  <a:srgbClr val="F0F0F0"/>
                </a:solidFill>
                <a:latin typeface="Poppins" pitchFamily="34" charset="0"/>
                <a:ea typeface="Poppins" pitchFamily="34" charset="-122"/>
                <a:cs typeface="Poppins" pitchFamily="34" charset="-120"/>
              </a:rPr>
              <a:t>Google </a:t>
            </a:r>
            <a:r>
              <a:rPr lang="en-US" sz="1600" dirty="0">
                <a:solidFill>
                  <a:srgbClr val="F0F0F0"/>
                </a:solidFill>
                <a:latin typeface="Poppins" pitchFamily="34" charset="0"/>
                <a:ea typeface="Poppins" pitchFamily="34" charset="-122"/>
                <a:cs typeface="Poppins" pitchFamily="34" charset="-120"/>
              </a:rPr>
              <a:t>Fonts (Lora &amp; Poppins) for typography</a:t>
            </a:r>
            <a:endParaRPr lang="en-US" sz="1600" dirty="0"/>
          </a:p>
        </p:txBody>
      </p:sp>
      <p:sp>
        <p:nvSpPr>
          <p:cNvPr id="7" name="Text 5"/>
          <p:cNvSpPr/>
          <p:nvPr/>
        </p:nvSpPr>
        <p:spPr>
          <a:xfrm>
            <a:off x="1097280" y="22402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Font Awesome 6.4.0 for icons</a:t>
            </a:r>
            <a:endParaRPr lang="en-US" sz="1600" dirty="0"/>
          </a:p>
        </p:txBody>
      </p:sp>
      <p:sp>
        <p:nvSpPr>
          <p:cNvPr id="8" name="Text 6"/>
          <p:cNvSpPr/>
          <p:nvPr/>
        </p:nvSpPr>
        <p:spPr>
          <a:xfrm>
            <a:off x="1097280" y="27432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Responsive design with CSS media queries</a:t>
            </a:r>
            <a:endParaRPr lang="en-US" sz="1600" dirty="0"/>
          </a:p>
        </p:txBody>
      </p:sp>
      <p:sp>
        <p:nvSpPr>
          <p:cNvPr id="9" name="Text 7"/>
          <p:cNvSpPr/>
          <p:nvPr/>
        </p:nvSpPr>
        <p:spPr>
          <a:xfrm>
            <a:off x="1097280" y="4023360"/>
            <a:ext cx="7589520" cy="457200"/>
          </a:xfrm>
          <a:prstGeom prst="rect">
            <a:avLst/>
          </a:prstGeom>
          <a:noFill/>
          <a:ln/>
        </p:spPr>
        <p:txBody>
          <a:bodyPr wrap="square" rtlCol="0" anchor="ctr"/>
          <a:lstStyle/>
          <a:p>
            <a:pPr>
              <a:buSzPct val="100000"/>
            </a:pP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Key Features (Part 1)</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Responsive Navigation Bar with smooth scrolling</a:t>
            </a:r>
            <a:endParaRPr lang="en-US" sz="1600" dirty="0"/>
          </a:p>
        </p:txBody>
      </p:sp>
      <p:sp>
        <p:nvSpPr>
          <p:cNvPr id="5" name="Text 3"/>
          <p:cNvSpPr/>
          <p:nvPr/>
        </p:nvSpPr>
        <p:spPr>
          <a:xfrm>
            <a:off x="1097280" y="18288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Hero Section with compelling call-to-action buttons</a:t>
            </a:r>
            <a:endParaRPr lang="en-US" sz="1600" dirty="0"/>
          </a:p>
        </p:txBody>
      </p:sp>
      <p:sp>
        <p:nvSpPr>
          <p:cNvPr id="6" name="Text 4"/>
          <p:cNvSpPr/>
          <p:nvPr/>
        </p:nvSpPr>
        <p:spPr>
          <a:xfrm>
            <a:off x="1097280" y="237744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About Section with statistical boxes showing ministry impact</a:t>
            </a:r>
            <a:endParaRPr lang="en-US" sz="1600" dirty="0"/>
          </a:p>
        </p:txBody>
      </p:sp>
      <p:sp>
        <p:nvSpPr>
          <p:cNvPr id="7" name="Text 5"/>
          <p:cNvSpPr/>
          <p:nvPr/>
        </p:nvSpPr>
        <p:spPr>
          <a:xfrm>
            <a:off x="1097280" y="29260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Activities Section showcasing core values and mission statements</a:t>
            </a:r>
            <a:endParaRPr lang="en-US" sz="1600" dirty="0"/>
          </a:p>
        </p:txBody>
      </p:sp>
      <p:sp>
        <p:nvSpPr>
          <p:cNvPr id="8" name="Text 6"/>
          <p:cNvSpPr/>
          <p:nvPr/>
        </p:nvSpPr>
        <p:spPr>
          <a:xfrm>
            <a:off x="1097280" y="347472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Smooth hover effects and transitions throughout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Key Features (Part 2)</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Testimonials Section from current altar servers</a:t>
            </a:r>
            <a:endParaRPr lang="en-US" sz="1600" dirty="0"/>
          </a:p>
        </p:txBody>
      </p:sp>
      <p:sp>
        <p:nvSpPr>
          <p:cNvPr id="5" name="Text 3"/>
          <p:cNvSpPr/>
          <p:nvPr/>
        </p:nvSpPr>
        <p:spPr>
          <a:xfrm>
            <a:off x="1097280" y="18288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Contact Form with full form validation</a:t>
            </a:r>
            <a:endParaRPr lang="en-US" sz="1600" dirty="0"/>
          </a:p>
        </p:txBody>
      </p:sp>
      <p:sp>
        <p:nvSpPr>
          <p:cNvPr id="6" name="Text 4"/>
          <p:cNvSpPr/>
          <p:nvPr/>
        </p:nvSpPr>
        <p:spPr>
          <a:xfrm>
            <a:off x="1097280" y="237744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Weekly Serving Roster with interactive tables</a:t>
            </a:r>
            <a:endParaRPr lang="en-US" sz="1600" dirty="0"/>
          </a:p>
        </p:txBody>
      </p:sp>
      <p:sp>
        <p:nvSpPr>
          <p:cNvPr id="7" name="Text 5"/>
          <p:cNvSpPr/>
          <p:nvPr/>
        </p:nvSpPr>
        <p:spPr>
          <a:xfrm>
            <a:off x="1097280" y="29260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Modal dialogs for editing announcements and schedules</a:t>
            </a:r>
            <a:endParaRPr lang="en-US" sz="1600" dirty="0"/>
          </a:p>
        </p:txBody>
      </p:sp>
      <p:sp>
        <p:nvSpPr>
          <p:cNvPr id="8" name="Text 6"/>
          <p:cNvSpPr/>
          <p:nvPr/>
        </p:nvSpPr>
        <p:spPr>
          <a:xfrm>
            <a:off x="1097280" y="347472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Footer with social media links (Facebook, Instagram, YouTube)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Design &amp; User Experience</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Dark Navy theme (#1a1a2e) for elegance and focus</a:t>
            </a:r>
            <a:endParaRPr lang="en-US" sz="1600" dirty="0"/>
          </a:p>
        </p:txBody>
      </p:sp>
      <p:sp>
        <p:nvSpPr>
          <p:cNvPr id="5" name="Text 3"/>
          <p:cNvSpPr/>
          <p:nvPr/>
        </p:nvSpPr>
        <p:spPr>
          <a:xfrm>
            <a:off x="1097280" y="18288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Accent Red (#c41e3a) for call-to-action elements</a:t>
            </a:r>
            <a:endParaRPr lang="en-US" sz="1600" dirty="0"/>
          </a:p>
        </p:txBody>
      </p:sp>
      <p:sp>
        <p:nvSpPr>
          <p:cNvPr id="6" name="Text 4"/>
          <p:cNvSpPr/>
          <p:nvPr/>
        </p:nvSpPr>
        <p:spPr>
          <a:xfrm>
            <a:off x="1097280" y="237744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Typography: Lora (serif) for headers, Poppins (sans-serif) for body</a:t>
            </a:r>
            <a:endParaRPr lang="en-US" sz="1600" dirty="0"/>
          </a:p>
        </p:txBody>
      </p:sp>
      <p:sp>
        <p:nvSpPr>
          <p:cNvPr id="7" name="Text 5"/>
          <p:cNvSpPr/>
          <p:nvPr/>
        </p:nvSpPr>
        <p:spPr>
          <a:xfrm>
            <a:off x="1097280" y="29260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Consistent spacing and visual hierarchy throughout</a:t>
            </a:r>
            <a:endParaRPr lang="en-US" sz="1600" dirty="0"/>
          </a:p>
        </p:txBody>
      </p:sp>
      <p:sp>
        <p:nvSpPr>
          <p:cNvPr id="8" name="Text 6"/>
          <p:cNvSpPr/>
          <p:nvPr/>
        </p:nvSpPr>
        <p:spPr>
          <a:xfrm>
            <a:off x="1097280" y="347472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Card-based layout for organized information presentation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Responsive Design Implementation</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Mobile-first approach with CSS media queries</a:t>
            </a:r>
            <a:endParaRPr lang="en-US" sz="1600" dirty="0"/>
          </a:p>
        </p:txBody>
      </p:sp>
      <p:sp>
        <p:nvSpPr>
          <p:cNvPr id="5" name="Text 3"/>
          <p:cNvSpPr/>
          <p:nvPr/>
        </p:nvSpPr>
        <p:spPr>
          <a:xfrm>
            <a:off x="1097280" y="18288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Breakpoints: 768px (tablet) and 576px (mobile)</a:t>
            </a:r>
            <a:endParaRPr lang="en-US" sz="1600" dirty="0"/>
          </a:p>
        </p:txBody>
      </p:sp>
      <p:sp>
        <p:nvSpPr>
          <p:cNvPr id="6" name="Text 4"/>
          <p:cNvSpPr/>
          <p:nvPr/>
        </p:nvSpPr>
        <p:spPr>
          <a:xfrm>
            <a:off x="1097280" y="237744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Fixed mobile overflow issue: body, html { overflow-x: hidden }</a:t>
            </a:r>
            <a:endParaRPr lang="en-US" sz="1600" dirty="0"/>
          </a:p>
        </p:txBody>
      </p:sp>
      <p:sp>
        <p:nvSpPr>
          <p:cNvPr id="7" name="Text 5"/>
          <p:cNvSpPr/>
          <p:nvPr/>
        </p:nvSpPr>
        <p:spPr>
          <a:xfrm>
            <a:off x="1097280" y="29260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Flexible grid system using Bootstrap's col classes</a:t>
            </a:r>
            <a:endParaRPr lang="en-US" sz="1600" dirty="0"/>
          </a:p>
        </p:txBody>
      </p:sp>
      <p:sp>
        <p:nvSpPr>
          <p:cNvPr id="8" name="Text 6"/>
          <p:cNvSpPr/>
          <p:nvPr/>
        </p:nvSpPr>
        <p:spPr>
          <a:xfrm>
            <a:off x="1097280" y="347472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Touch-friendly button sizes and spacing</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Code Structure &amp; Organization</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Semantic HTML: proper use of &lt;section&gt;, &lt;nav&gt;, &lt;footer&gt; tags</a:t>
            </a:r>
            <a:endParaRPr lang="en-US" sz="1600" dirty="0"/>
          </a:p>
        </p:txBody>
      </p:sp>
      <p:sp>
        <p:nvSpPr>
          <p:cNvPr id="5" name="Text 3"/>
          <p:cNvSpPr/>
          <p:nvPr/>
        </p:nvSpPr>
        <p:spPr>
          <a:xfrm>
            <a:off x="1097280" y="18288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CSS Variables (:root) for maintainability and theming</a:t>
            </a:r>
            <a:endParaRPr lang="en-US" sz="1600" dirty="0"/>
          </a:p>
        </p:txBody>
      </p:sp>
      <p:sp>
        <p:nvSpPr>
          <p:cNvPr id="6" name="Text 4"/>
          <p:cNvSpPr/>
          <p:nvPr/>
        </p:nvSpPr>
        <p:spPr>
          <a:xfrm>
            <a:off x="1097280" y="237744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Organized CSS file with clear sections (navbar, hero, cards, etc.)</a:t>
            </a:r>
            <a:endParaRPr lang="en-US" sz="1600" dirty="0"/>
          </a:p>
        </p:txBody>
      </p:sp>
      <p:sp>
        <p:nvSpPr>
          <p:cNvPr id="7" name="Text 5"/>
          <p:cNvSpPr/>
          <p:nvPr/>
        </p:nvSpPr>
        <p:spPr>
          <a:xfrm>
            <a:off x="1097280" y="29260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Bootstrap utility classes for consistent spacing</a:t>
            </a:r>
            <a:endParaRPr lang="en-US" sz="1600" dirty="0"/>
          </a:p>
        </p:txBody>
      </p:sp>
      <p:sp>
        <p:nvSpPr>
          <p:cNvPr id="8" name="Text 6"/>
          <p:cNvSpPr/>
          <p:nvPr/>
        </p:nvSpPr>
        <p:spPr>
          <a:xfrm>
            <a:off x="1097280" y="347472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Clean separation of concerns: structure, style, behavior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Interactive Elements &amp; JavaScript</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Bootstrap modal dialogs for edit functionality</a:t>
            </a:r>
            <a:endParaRPr lang="en-US" sz="1600" dirty="0"/>
          </a:p>
        </p:txBody>
      </p:sp>
      <p:sp>
        <p:nvSpPr>
          <p:cNvPr id="5" name="Text 3"/>
          <p:cNvSpPr/>
          <p:nvPr/>
        </p:nvSpPr>
        <p:spPr>
          <a:xfrm>
            <a:off x="1097280" y="18288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Form inputs with placeholder text and validation attributes</a:t>
            </a:r>
            <a:endParaRPr lang="en-US" sz="1600" dirty="0"/>
          </a:p>
        </p:txBody>
      </p:sp>
      <p:sp>
        <p:nvSpPr>
          <p:cNvPr id="6" name="Text 4"/>
          <p:cNvSpPr/>
          <p:nvPr/>
        </p:nvSpPr>
        <p:spPr>
          <a:xfrm>
            <a:off x="1097280" y="237744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Status badges with color-coding (Confirmed/Pending)</a:t>
            </a:r>
            <a:endParaRPr lang="en-US" sz="1600" dirty="0"/>
          </a:p>
        </p:txBody>
      </p:sp>
      <p:sp>
        <p:nvSpPr>
          <p:cNvPr id="7" name="Text 5"/>
          <p:cNvSpPr/>
          <p:nvPr/>
        </p:nvSpPr>
        <p:spPr>
          <a:xfrm>
            <a:off x="1097280" y="29260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Hover effects on cards and buttons</a:t>
            </a:r>
            <a:endParaRPr lang="en-US" sz="1600" dirty="0"/>
          </a:p>
        </p:txBody>
      </p:sp>
      <p:sp>
        <p:nvSpPr>
          <p:cNvPr id="8" name="Text 6"/>
          <p:cNvSpPr/>
          <p:nvPr/>
        </p:nvSpPr>
        <p:spPr>
          <a:xfrm>
            <a:off x="1097280" y="347472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Smooth scroll behavior for anchor links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Mobile Optimization Details</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Tested and fixed overflow issues on viewport width</a:t>
            </a:r>
            <a:endParaRPr lang="en-US" sz="1600" dirty="0"/>
          </a:p>
        </p:txBody>
      </p:sp>
      <p:sp>
        <p:nvSpPr>
          <p:cNvPr id="5" name="Text 3"/>
          <p:cNvSpPr/>
          <p:nvPr/>
        </p:nvSpPr>
        <p:spPr>
          <a:xfrm>
            <a:off x="1097280" y="18288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Responsive images using background-size: cover</a:t>
            </a:r>
            <a:endParaRPr lang="en-US" sz="1600" dirty="0"/>
          </a:p>
        </p:txBody>
      </p:sp>
      <p:sp>
        <p:nvSpPr>
          <p:cNvPr id="6" name="Text 4"/>
          <p:cNvSpPr/>
          <p:nvPr/>
        </p:nvSpPr>
        <p:spPr>
          <a:xfrm>
            <a:off x="1097280" y="237744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Touch-friendly interactive elements (minimum 44px height)</a:t>
            </a:r>
            <a:endParaRPr lang="en-US" sz="1600" dirty="0"/>
          </a:p>
        </p:txBody>
      </p:sp>
      <p:sp>
        <p:nvSpPr>
          <p:cNvPr id="7" name="Text 5"/>
          <p:cNvSpPr/>
          <p:nvPr/>
        </p:nvSpPr>
        <p:spPr>
          <a:xfrm>
            <a:off x="1097280" y="29260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Optimized table display for small screens</a:t>
            </a:r>
            <a:endParaRPr lang="en-US" sz="1600" dirty="0"/>
          </a:p>
        </p:txBody>
      </p:sp>
      <p:sp>
        <p:nvSpPr>
          <p:cNvPr id="8" name="Text 6"/>
          <p:cNvSpPr/>
          <p:nvPr/>
        </p:nvSpPr>
        <p:spPr>
          <a:xfrm>
            <a:off x="1097280" y="347472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Collapsible navigation menu for mobile devices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Data &amp; Content Management</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Weekly serving roster for 7 days with multiple mass times</a:t>
            </a:r>
            <a:endParaRPr lang="en-US" sz="1600" dirty="0"/>
          </a:p>
        </p:txBody>
      </p:sp>
      <p:sp>
        <p:nvSpPr>
          <p:cNvPr id="5" name="Text 3"/>
          <p:cNvSpPr/>
          <p:nvPr/>
        </p:nvSpPr>
        <p:spPr>
          <a:xfrm>
            <a:off x="1097280" y="18288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Announcements section with 4 key updates</a:t>
            </a:r>
            <a:endParaRPr lang="en-US" sz="1600" dirty="0"/>
          </a:p>
        </p:txBody>
      </p:sp>
      <p:sp>
        <p:nvSpPr>
          <p:cNvPr id="6" name="Text 4"/>
          <p:cNvSpPr/>
          <p:nvPr/>
        </p:nvSpPr>
        <p:spPr>
          <a:xfrm>
            <a:off x="1097280" y="237744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Server information including names, positions, and status</a:t>
            </a:r>
            <a:endParaRPr lang="en-US" sz="1600" dirty="0"/>
          </a:p>
        </p:txBody>
      </p:sp>
      <p:sp>
        <p:nvSpPr>
          <p:cNvPr id="7" name="Text 5"/>
          <p:cNvSpPr/>
          <p:nvPr/>
        </p:nvSpPr>
        <p:spPr>
          <a:xfrm>
            <a:off x="1097280" y="29260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Status tracking: Confirmed vs Pending assignments</a:t>
            </a:r>
            <a:endParaRPr lang="en-US" sz="1600" dirty="0"/>
          </a:p>
        </p:txBody>
      </p:sp>
      <p:sp>
        <p:nvSpPr>
          <p:cNvPr id="8" name="Text 6"/>
          <p:cNvSpPr/>
          <p:nvPr/>
        </p:nvSpPr>
        <p:spPr>
          <a:xfrm>
            <a:off x="1097280" y="347472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Ready for database backend integration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Technical Excellence</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Cross-browser compatible (Chrome, Firefox, Safari, Edge)</a:t>
            </a:r>
            <a:endParaRPr lang="en-US" sz="1600" dirty="0"/>
          </a:p>
        </p:txBody>
      </p:sp>
      <p:sp>
        <p:nvSpPr>
          <p:cNvPr id="5" name="Text 3"/>
          <p:cNvSpPr/>
          <p:nvPr/>
        </p:nvSpPr>
        <p:spPr>
          <a:xfrm>
            <a:off x="1097280" y="18288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Uses CDN for Bootstrap and Font Awesome (fast loading)</a:t>
            </a:r>
            <a:endParaRPr lang="en-US" sz="1600" dirty="0"/>
          </a:p>
        </p:txBody>
      </p:sp>
      <p:sp>
        <p:nvSpPr>
          <p:cNvPr id="6" name="Text 4"/>
          <p:cNvSpPr/>
          <p:nvPr/>
        </p:nvSpPr>
        <p:spPr>
          <a:xfrm>
            <a:off x="1097280" y="237744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Optimized images from Unsplash (high quality, responsive)</a:t>
            </a:r>
            <a:endParaRPr lang="en-US" sz="1600" dirty="0"/>
          </a:p>
        </p:txBody>
      </p:sp>
      <p:sp>
        <p:nvSpPr>
          <p:cNvPr id="7" name="Text 5"/>
          <p:cNvSpPr/>
          <p:nvPr/>
        </p:nvSpPr>
        <p:spPr>
          <a:xfrm>
            <a:off x="1097280" y="29260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CSS transitions for smooth animations (no janky effects)</a:t>
            </a:r>
            <a:endParaRPr lang="en-US" sz="1600" dirty="0"/>
          </a:p>
        </p:txBody>
      </p:sp>
      <p:sp>
        <p:nvSpPr>
          <p:cNvPr id="8" name="Text 6"/>
          <p:cNvSpPr/>
          <p:nvPr/>
        </p:nvSpPr>
        <p:spPr>
          <a:xfrm>
            <a:off x="1097280" y="347472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Lighthouse-ready structure with semantic HTML</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Challenges &amp; Solutions</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Challenge: Mobile overflow causing horizontal scroll</a:t>
            </a:r>
            <a:endParaRPr lang="en-US" sz="1600" dirty="0"/>
          </a:p>
        </p:txBody>
      </p:sp>
      <p:sp>
        <p:nvSpPr>
          <p:cNvPr id="5" name="Text 3"/>
          <p:cNvSpPr/>
          <p:nvPr/>
        </p:nvSpPr>
        <p:spPr>
          <a:xfrm>
            <a:off x="1097280" y="18288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Solution: Added overflow-x: hidden to body and html tags</a:t>
            </a:r>
            <a:endParaRPr lang="en-US" sz="1600" dirty="0"/>
          </a:p>
        </p:txBody>
      </p:sp>
      <p:sp>
        <p:nvSpPr>
          <p:cNvPr id="6" name="Text 4"/>
          <p:cNvSpPr/>
          <p:nvPr/>
        </p:nvSpPr>
        <p:spPr>
          <a:xfrm>
            <a:off x="1097280" y="237744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Challenge: Maintaining dark theme consistency across pages</a:t>
            </a:r>
            <a:endParaRPr lang="en-US" sz="1600" dirty="0"/>
          </a:p>
        </p:txBody>
      </p:sp>
      <p:sp>
        <p:nvSpPr>
          <p:cNvPr id="7" name="Text 5"/>
          <p:cNvSpPr/>
          <p:nvPr/>
        </p:nvSpPr>
        <p:spPr>
          <a:xfrm>
            <a:off x="1097280" y="29260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Solution: Created global CSS variables at root level</a:t>
            </a:r>
            <a:endParaRPr lang="en-US" sz="1600" dirty="0"/>
          </a:p>
        </p:txBody>
      </p:sp>
      <p:sp>
        <p:nvSpPr>
          <p:cNvPr id="8" name="Text 6"/>
          <p:cNvSpPr/>
          <p:nvPr/>
        </p:nvSpPr>
        <p:spPr>
          <a:xfrm>
            <a:off x="1097280" y="347472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Challenge: Responsive tables on small screens</a:t>
            </a:r>
            <a:endParaRPr lang="en-US" sz="1600" dirty="0"/>
          </a:p>
        </p:txBody>
      </p:sp>
      <p:sp>
        <p:nvSpPr>
          <p:cNvPr id="9" name="Text 7"/>
          <p:cNvSpPr/>
          <p:nvPr/>
        </p:nvSpPr>
        <p:spPr>
          <a:xfrm>
            <a:off x="1097280" y="40233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Solution: Added table-responsive wrapper with horizontal scroll</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Future Enhancements</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Backend integration (Node.js/Express) for dynamic roster management</a:t>
            </a:r>
            <a:endParaRPr lang="en-US" sz="1600" dirty="0"/>
          </a:p>
        </p:txBody>
      </p:sp>
      <p:sp>
        <p:nvSpPr>
          <p:cNvPr id="5" name="Text 3"/>
          <p:cNvSpPr/>
          <p:nvPr/>
        </p:nvSpPr>
        <p:spPr>
          <a:xfrm>
            <a:off x="1097280" y="18288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Database (MongoDB/MySQL) for storing announcements and schedules</a:t>
            </a:r>
            <a:endParaRPr lang="en-US" sz="1600" dirty="0"/>
          </a:p>
        </p:txBody>
      </p:sp>
      <p:sp>
        <p:nvSpPr>
          <p:cNvPr id="6" name="Text 4"/>
          <p:cNvSpPr/>
          <p:nvPr/>
        </p:nvSpPr>
        <p:spPr>
          <a:xfrm>
            <a:off x="1097280" y="237744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User authentication for admin panel to edit content</a:t>
            </a:r>
            <a:endParaRPr lang="en-US" sz="1600" dirty="0"/>
          </a:p>
        </p:txBody>
      </p:sp>
      <p:sp>
        <p:nvSpPr>
          <p:cNvPr id="7" name="Text 5"/>
          <p:cNvSpPr/>
          <p:nvPr/>
        </p:nvSpPr>
        <p:spPr>
          <a:xfrm>
            <a:off x="1097280" y="29260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Light/Dark theme toggle (JS state management + localStorage)</a:t>
            </a:r>
            <a:endParaRPr lang="en-US" sz="1600" dirty="0"/>
          </a:p>
        </p:txBody>
      </p:sp>
      <p:sp>
        <p:nvSpPr>
          <p:cNvPr id="8" name="Text 6"/>
          <p:cNvSpPr/>
          <p:nvPr/>
        </p:nvSpPr>
        <p:spPr>
          <a:xfrm>
            <a:off x="1097280" y="347472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Email notifications when roster updates occur</a:t>
            </a:r>
            <a:endParaRPr lang="en-US" sz="1600" dirty="0"/>
          </a:p>
        </p:txBody>
      </p:sp>
      <p:sp>
        <p:nvSpPr>
          <p:cNvPr id="9" name="Text 7"/>
          <p:cNvSpPr/>
          <p:nvPr/>
        </p:nvSpPr>
        <p:spPr>
          <a:xfrm>
            <a:off x="1097280" y="40233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Mobile app version using React Native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Live Demo: What to Show</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Homepage: Scroll through sections showing smooth design</a:t>
            </a:r>
            <a:endParaRPr lang="en-US" sz="1600" dirty="0"/>
          </a:p>
        </p:txBody>
      </p:sp>
      <p:sp>
        <p:nvSpPr>
          <p:cNvPr id="5" name="Text 3"/>
          <p:cNvSpPr/>
          <p:nvPr/>
        </p:nvSpPr>
        <p:spPr>
          <a:xfrm>
            <a:off x="1097280" y="18288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Navigate to Roster page and explain table structure</a:t>
            </a:r>
            <a:endParaRPr lang="en-US" sz="1600" dirty="0"/>
          </a:p>
        </p:txBody>
      </p:sp>
      <p:sp>
        <p:nvSpPr>
          <p:cNvPr id="6" name="Text 4"/>
          <p:cNvSpPr/>
          <p:nvPr/>
        </p:nvSpPr>
        <p:spPr>
          <a:xfrm>
            <a:off x="1097280" y="237744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Open modals by clicking 'Edit' buttons</a:t>
            </a:r>
            <a:endParaRPr lang="en-US" sz="1600" dirty="0"/>
          </a:p>
        </p:txBody>
      </p:sp>
      <p:sp>
        <p:nvSpPr>
          <p:cNvPr id="7" name="Text 5"/>
          <p:cNvSpPr/>
          <p:nvPr/>
        </p:nvSpPr>
        <p:spPr>
          <a:xfrm>
            <a:off x="1097280" y="29260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Show mobile responsiveness by resizing browser window</a:t>
            </a:r>
            <a:endParaRPr lang="en-US" sz="1600" dirty="0"/>
          </a:p>
        </p:txBody>
      </p:sp>
      <p:sp>
        <p:nvSpPr>
          <p:cNvPr id="8" name="Text 6"/>
          <p:cNvSpPr/>
          <p:nvPr/>
        </p:nvSpPr>
        <p:spPr>
          <a:xfrm>
            <a:off x="1097280" y="347472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Click navbar links to demonstrate smooth scrolling</a:t>
            </a:r>
            <a:endParaRPr lang="en-US" sz="1600" dirty="0"/>
          </a:p>
        </p:txBody>
      </p:sp>
      <p:sp>
        <p:nvSpPr>
          <p:cNvPr id="9" name="Text 7"/>
          <p:cNvSpPr/>
          <p:nvPr/>
        </p:nvSpPr>
        <p:spPr>
          <a:xfrm>
            <a:off x="1097280" y="40233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Highlight color scheme and typography choices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4000" b="1" dirty="0">
                <a:solidFill>
                  <a:srgbClr val="C41E3A"/>
                </a:solidFill>
                <a:latin typeface="Lora" pitchFamily="34" charset="0"/>
                <a:ea typeface="Lora" pitchFamily="34" charset="-122"/>
                <a:cs typeface="Lora" pitchFamily="34" charset="-120"/>
              </a:rPr>
              <a:t>Key Learnings &amp; Takeaways</a:t>
            </a:r>
            <a:endParaRPr lang="en-US" sz="4000" dirty="0"/>
          </a:p>
        </p:txBody>
      </p:sp>
      <p:sp>
        <p:nvSpPr>
          <p:cNvPr id="3" name="Shape 1"/>
          <p:cNvSpPr/>
          <p:nvPr/>
        </p:nvSpPr>
        <p:spPr>
          <a:xfrm>
            <a:off x="457200" y="960120"/>
            <a:ext cx="274320" cy="36576"/>
          </a:xfrm>
          <a:prstGeom prst="rect">
            <a:avLst/>
          </a:prstGeom>
          <a:solidFill>
            <a:srgbClr val="C41E3A"/>
          </a:solidFill>
          <a:ln/>
        </p:spPr>
      </p:sp>
      <p:sp>
        <p:nvSpPr>
          <p:cNvPr id="4" name="Text 2"/>
          <p:cNvSpPr/>
          <p:nvPr/>
        </p:nvSpPr>
        <p:spPr>
          <a:xfrm>
            <a:off x="1097280" y="12801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Importance of responsive design from the start</a:t>
            </a:r>
            <a:endParaRPr lang="en-US" sz="1600" dirty="0"/>
          </a:p>
        </p:txBody>
      </p:sp>
      <p:sp>
        <p:nvSpPr>
          <p:cNvPr id="5" name="Text 3"/>
          <p:cNvSpPr/>
          <p:nvPr/>
        </p:nvSpPr>
        <p:spPr>
          <a:xfrm>
            <a:off x="1097280" y="182880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Power of CSS variables for maintainable code</a:t>
            </a:r>
            <a:endParaRPr lang="en-US" sz="1600" dirty="0"/>
          </a:p>
        </p:txBody>
      </p:sp>
      <p:sp>
        <p:nvSpPr>
          <p:cNvPr id="6" name="Text 4"/>
          <p:cNvSpPr/>
          <p:nvPr/>
        </p:nvSpPr>
        <p:spPr>
          <a:xfrm>
            <a:off x="1097280" y="237744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Bootstrap framework accelerates development significantly</a:t>
            </a:r>
            <a:endParaRPr lang="en-US" sz="1600" dirty="0"/>
          </a:p>
        </p:txBody>
      </p:sp>
      <p:sp>
        <p:nvSpPr>
          <p:cNvPr id="7" name="Text 5"/>
          <p:cNvSpPr/>
          <p:nvPr/>
        </p:nvSpPr>
        <p:spPr>
          <a:xfrm>
            <a:off x="1097280" y="292608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Mobile-first testing catches issues early</a:t>
            </a:r>
            <a:endParaRPr lang="en-US" sz="1600" dirty="0"/>
          </a:p>
        </p:txBody>
      </p:sp>
      <p:sp>
        <p:nvSpPr>
          <p:cNvPr id="8" name="Text 6"/>
          <p:cNvSpPr/>
          <p:nvPr/>
        </p:nvSpPr>
        <p:spPr>
          <a:xfrm>
            <a:off x="1097280" y="347472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Semantic HTML improves both UX and SEO</a:t>
            </a:r>
            <a:endParaRPr lang="en-US" sz="1600" dirty="0"/>
          </a:p>
        </p:txBody>
      </p:sp>
      <p:sp>
        <p:nvSpPr>
          <p:cNvPr id="9" name="Text 7"/>
          <p:cNvSpPr/>
          <p:nvPr/>
        </p:nvSpPr>
        <p:spPr>
          <a:xfrm>
            <a:off x="1097280" y="4023360"/>
            <a:ext cx="7589520" cy="457200"/>
          </a:xfrm>
          <a:prstGeom prst="rect">
            <a:avLst/>
          </a:prstGeom>
          <a:noFill/>
          <a:ln/>
        </p:spPr>
        <p:txBody>
          <a:bodyPr wrap="square" rtlCol="0" anchor="ctr"/>
          <a:lstStyle/>
          <a:p>
            <a:pPr marL="342900" indent="-342900">
              <a:buSzPct val="100000"/>
              <a:buChar char="•"/>
            </a:pPr>
            <a:r>
              <a:rPr lang="en-US" sz="1600" dirty="0">
                <a:solidFill>
                  <a:srgbClr val="F0F0F0"/>
                </a:solidFill>
                <a:latin typeface="Poppins" pitchFamily="34" charset="0"/>
                <a:ea typeface="Poppins" pitchFamily="34" charset="-122"/>
                <a:cs typeface="Poppins" pitchFamily="34" charset="-120"/>
              </a:rPr>
              <a:t>CSS transitions and animations enhance perceived performance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0F1E"/>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marL="0" indent="0" algn="ctr">
              <a:buNone/>
            </a:pPr>
            <a:r>
              <a:rPr lang="en-US" sz="5400" b="1" dirty="0">
                <a:solidFill>
                  <a:srgbClr val="C41E3A"/>
                </a:solidFill>
                <a:latin typeface="Lora" pitchFamily="34" charset="0"/>
                <a:ea typeface="Lora" pitchFamily="34" charset="-122"/>
                <a:cs typeface="Lora" pitchFamily="34" charset="-120"/>
              </a:rPr>
              <a:t>Thank You</a:t>
            </a:r>
            <a:endParaRPr lang="en-US" sz="5400" dirty="0"/>
          </a:p>
        </p:txBody>
      </p:sp>
      <p:sp>
        <p:nvSpPr>
          <p:cNvPr id="3" name="Text 1"/>
          <p:cNvSpPr/>
          <p:nvPr/>
        </p:nvSpPr>
        <p:spPr>
          <a:xfrm>
            <a:off x="457200" y="2743200"/>
            <a:ext cx="8229600" cy="548640"/>
          </a:xfrm>
          <a:prstGeom prst="rect">
            <a:avLst/>
          </a:prstGeom>
          <a:noFill/>
          <a:ln/>
        </p:spPr>
        <p:txBody>
          <a:bodyPr wrap="square" rtlCol="0" anchor="ctr"/>
          <a:lstStyle/>
          <a:p>
            <a:pPr marL="0" indent="0" algn="ctr">
              <a:buNone/>
            </a:pPr>
            <a:r>
              <a:rPr lang="en-US" sz="3200" dirty="0">
                <a:solidFill>
                  <a:srgbClr val="F0F0F0"/>
                </a:solidFill>
                <a:latin typeface="Poppins" pitchFamily="34" charset="0"/>
                <a:ea typeface="Poppins" pitchFamily="34" charset="-122"/>
                <a:cs typeface="Poppins" pitchFamily="34" charset="-120"/>
              </a:rPr>
              <a:t>Questions?</a:t>
            </a:r>
            <a:endParaRPr lang="en-US" sz="3200" dirty="0"/>
          </a:p>
        </p:txBody>
      </p:sp>
      <p:sp>
        <p:nvSpPr>
          <p:cNvPr id="4" name="Text 2"/>
          <p:cNvSpPr/>
          <p:nvPr/>
        </p:nvSpPr>
        <p:spPr>
          <a:xfrm>
            <a:off x="457200" y="3840480"/>
            <a:ext cx="8229600" cy="365760"/>
          </a:xfrm>
          <a:prstGeom prst="rect">
            <a:avLst/>
          </a:prstGeom>
          <a:noFill/>
          <a:ln/>
        </p:spPr>
        <p:txBody>
          <a:bodyPr wrap="square" rtlCol="0" anchor="ctr"/>
          <a:lstStyle/>
          <a:p>
            <a:pPr marL="0" indent="0" algn="ctr">
              <a:buNone/>
            </a:pPr>
            <a:r>
              <a:rPr lang="en-US" sz="1600" dirty="0">
                <a:solidFill>
                  <a:srgbClr val="A0A0A0"/>
                </a:solidFill>
                <a:latin typeface="Poppins" pitchFamily="34" charset="0"/>
                <a:ea typeface="Poppins" pitchFamily="34" charset="-122"/>
                <a:cs typeface="Poppins" pitchFamily="34" charset="-120"/>
              </a:rPr>
              <a:t>St. Louis Altar Servers Website Project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1718</Words>
  <Application>Microsoft Office PowerPoint</Application>
  <PresentationFormat>On-screen Show (16:9)</PresentationFormat>
  <Paragraphs>132</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Lora</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2</cp:revision>
  <dcterms:created xsi:type="dcterms:W3CDTF">2026-08-06T23:12:15Z</dcterms:created>
  <dcterms:modified xsi:type="dcterms:W3CDTF">2026-08-06T23:23:09Z</dcterms:modified>
</cp:coreProperties>
</file>